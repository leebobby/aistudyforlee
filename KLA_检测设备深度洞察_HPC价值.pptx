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914400"/>
            <a:ext cx="54864" cy="1463040"/>
          </a:xfrm>
          <a:prstGeom prst="rect">
            <a:avLst/>
          </a:prstGeom>
          <a:solidFill>
            <a:srgbClr val="4D8EF7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86868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 检测设备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深度洞察报告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2296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聚焦 Inspection 产品线 · HPC计算架构 · AI算法创新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1874520" cy="1097280"/>
          </a:xfrm>
          <a:prstGeom prst="rect">
            <a:avLst/>
          </a:prstGeom>
          <a:solidFill>
            <a:srgbClr val="141D2E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5643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D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80%+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8640" y="40690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光掩模检测份额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06040" y="3383280"/>
            <a:ext cx="1874520" cy="1097280"/>
          </a:xfrm>
          <a:prstGeom prst="rect">
            <a:avLst/>
          </a:prstGeom>
          <a:solidFill>
            <a:srgbClr val="141D2E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345643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D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≤7nm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606040" y="40690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BBP光学检测极限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3383280"/>
            <a:ext cx="1874520" cy="1097280"/>
          </a:xfrm>
          <a:prstGeom prst="rect">
            <a:avLst/>
          </a:prstGeom>
          <a:solidFill>
            <a:srgbClr val="141D2E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5643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D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8,500+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663440" y="40690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全球有效专利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20840" y="3383280"/>
            <a:ext cx="1874520" cy="1097280"/>
          </a:xfrm>
          <a:prstGeom prst="rect">
            <a:avLst/>
          </a:prstGeom>
          <a:solidFill>
            <a:srgbClr val="141D2E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345643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D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$12.2B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720840" y="40690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FY2025营收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报告结构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828800" cy="0"/>
          </a:xfrm>
          <a:prstGeom prst="line">
            <a:avLst/>
          </a:prstGeom>
          <a:noFill/>
          <a:ln w="25400">
            <a:solidFill>
              <a:srgbClr val="4D8EF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5272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600200" y="1188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检测产品矩阵全景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00200" y="1417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BBP · 激光扫描 · 电子束 · 光掩模 · 封装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1783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600200" y="1783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HPC计算架构与演进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600200" y="20116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定制GPU · NVIDIA合作 · 异构计算趋势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41448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377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600200" y="2377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HPC在检测中的核心价值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600200" y="2606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实时处理 · Physics-based AI · 数据管线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035808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2971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600200" y="2971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AI算法与软件创新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600200" y="32004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 · DefectWise · X30深度学习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30168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97280" y="3566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600200" y="3566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市场格局与竞争分析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600200" y="37947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份额 · 竞争者 · 壁垒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224528"/>
            <a:ext cx="292608" cy="29260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97280" y="4160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1600200" y="4160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技术路线图与前瞻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1600200" y="43891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2nm/GAA · High-NA · CFET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6217920" y="914400"/>
            <a:ext cx="2560320" cy="34747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Text 21"/>
          <p:cNvSpPr/>
          <p:nvPr/>
        </p:nvSpPr>
        <p:spPr>
          <a:xfrm>
            <a:off x="635508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聚焦两大主题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6355080" y="1645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检测设备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产品技术</a:t>
            </a:r>
            <a:endParaRPr lang="en-US" sz="2000" dirty="0"/>
          </a:p>
        </p:txBody>
      </p:sp>
      <p:sp>
        <p:nvSpPr>
          <p:cNvPr id="31" name="Text 23"/>
          <p:cNvSpPr/>
          <p:nvPr/>
        </p:nvSpPr>
        <p:spPr>
          <a:xfrm>
            <a:off x="635508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800" dirty="0"/>
          </a:p>
        </p:txBody>
      </p:sp>
      <p:sp>
        <p:nvSpPr>
          <p:cNvPr id="32" name="Text 24"/>
          <p:cNvSpPr/>
          <p:nvPr/>
        </p:nvSpPr>
        <p:spPr>
          <a:xfrm>
            <a:off x="6355080" y="2697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HPC计算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4D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检测产品矩阵 — 宽带等离子体 (BBP)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645920" cy="0"/>
          </a:xfrm>
          <a:prstGeom prst="line">
            <a:avLst/>
          </a:prstGeom>
          <a:noFill/>
          <a:ln w="25400">
            <a:solidFill>
              <a:srgbClr val="4D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KLA旗舰检测平台，40年技术积淀，定制GPU架构图像计算机实时处理TB级数据流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1280160"/>
                <a:gridCol w="2926080"/>
                <a:gridCol w="12801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型号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波长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定位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关键特性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目标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</a:rPr>
                        <a:t>3935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SR-DUV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缺陷发现旗舰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5A8"/>
                          </a:solidFill>
                        </a:rPr>
                        <a:t>Setup 2.0, DualSENS光学-电子束联动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B7185"/>
                          </a:solidFill>
                        </a:rPr>
                        <a:t>≤5nm / GAA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</a:rPr>
                        <a:t>3920 EP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SR-DUV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存储器优化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5A8"/>
                          </a:solidFill>
                        </a:rPr>
                        <a:t>专用存储器算法与缺陷分箱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78BFA"/>
                          </a:solidFill>
                        </a:rPr>
                        <a:t>3D NAND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</a:rPr>
                        <a:t>2965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DUV/UV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逻辑监控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5A8"/>
                          </a:solidFill>
                        </a:rPr>
                        <a:t>Super·Pixel, MCAT, iDO 3.0 ML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B7185"/>
                          </a:solidFill>
                        </a:rPr>
                        <a:t>≤5nm GAA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</a:rPr>
                        <a:t>2950 EP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DUV/UV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存储器监控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5A8"/>
                          </a:solidFill>
                        </a:rPr>
                        <a:t>存储器硬件+算法+分箱创新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78BFA"/>
                          </a:solidFill>
                        </a:rPr>
                        <a:t>NAND/DRAM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D3EE"/>
                          </a:solidFill>
                        </a:rPr>
                        <a:t>C205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全波段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5"/>
                          </a:solidFill>
                        </a:rPr>
                        <a:t>汽车/IoT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5A8"/>
                          </a:solidFill>
                        </a:rPr>
                        <a:t>NanoPoint, 潜在可靠性缺陷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成熟节点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383280"/>
            <a:ext cx="8229600" cy="1417320"/>
          </a:xfrm>
          <a:prstGeom prst="rect">
            <a:avLst/>
          </a:prstGeom>
          <a:solidFill>
            <a:srgbClr val="141D2E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BBP双轨策略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37490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8EDF5"/>
                </a:solidFill>
              </a:rPr>
              <a:t>发现轨 (Discovery):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95A8"/>
                </a:solidFill>
              </a:rPr>
              <a:t>3900/3935 SR-DUV超分辨 → 工艺开发 / 缺陷学习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8EDF5"/>
                </a:solidFill>
              </a:rPr>
              <a:t>监控轨 (Monitoring):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95A8"/>
                </a:solidFill>
              </a:rPr>
              <a:t>2900系列 DUV/UV → 产线在线监控 / 异常检出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BBF24"/>
                </a:solidFill>
              </a:rPr>
              <a:t>关键创新: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95A8"/>
                </a:solidFill>
              </a:rPr>
              <a:t>2965 Super·Pixel模式在灵敏度与吞吐量间取得更优平衡; 新增GAA纳米片专用波长段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检测产品矩阵 — 完整产品线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645920" cy="0"/>
          </a:xfrm>
          <a:prstGeom prst="line">
            <a:avLst/>
          </a:prstGeom>
          <a:noFill/>
          <a:ln w="25400">
            <a:solidFill>
              <a:srgbClr val="4D8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160020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16002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43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电子束复查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eDR-7380 / eDR7280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AI增强ADC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DualSENS联动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像素100x更小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39112" y="1005840"/>
            <a:ext cx="160020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39112" y="1005840"/>
            <a:ext cx="1600200" cy="54864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1" name="Text 9"/>
          <p:cNvSpPr/>
          <p:nvPr/>
        </p:nvSpPr>
        <p:spPr>
          <a:xfrm>
            <a:off x="2130552" y="1143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光掩模检测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30552" y="1463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Teron 647eS2 / SL670e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30552" y="187452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X30 AI (2nm验证)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EUVGold技术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80%+市占率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58184" y="1005840"/>
            <a:ext cx="160020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58184" y="1005840"/>
            <a:ext cx="1600200" cy="54864"/>
          </a:xfrm>
          <a:prstGeom prst="rect">
            <a:avLst/>
          </a:prstGeom>
          <a:solidFill>
            <a:srgbClr val="4D8EF7"/>
          </a:solidFill>
          <a:ln/>
        </p:spPr>
      </p:sp>
      <p:sp>
        <p:nvSpPr>
          <p:cNvPr id="16" name="Text 14"/>
          <p:cNvSpPr/>
          <p:nvPr/>
        </p:nvSpPr>
        <p:spPr>
          <a:xfrm>
            <a:off x="3849624" y="1143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激光扫描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9624" y="1463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Puma 9980 / Surfscan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49624" y="187452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高速产线监控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亚20nm灵敏度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NanoPoint设计感知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77256" y="1005840"/>
            <a:ext cx="160020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77256" y="1005840"/>
            <a:ext cx="16002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5568696" y="1143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全表面集群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68696" y="1463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CIRCL-AP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68696" y="187452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正面+边缘+背面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多模块并行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全表面关联分析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96328" y="1005840"/>
            <a:ext cx="160020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96328" y="1005840"/>
            <a:ext cx="1600200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7287768" y="1143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封装检测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87768" y="14630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Kronos 1190 / ICOS系列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87768" y="187452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DefectWise 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$925M+营收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YoY增长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1148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系统级壁垒: BBP光学发现缺陷 → eDR电子束精确复查 → Teron掩膜版质量关 → 封装检测闭环，形成竞争对手难以复制的全链条协同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HPC计算架构 — 检测系统的计算核心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645920" cy="0"/>
          </a:xfrm>
          <a:prstGeom prst="line">
            <a:avLst/>
          </a:prstGeom>
          <a:noFill/>
          <a:ln w="25400">
            <a:solidFill>
              <a:srgbClr val="4D8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1627632" cy="1554480"/>
          </a:xfrm>
          <a:prstGeom prst="rect">
            <a:avLst/>
          </a:prstGeom>
          <a:solidFill>
            <a:srgbClr val="141D2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光源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宽带等离子体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DUV/UV/VIS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190-260nm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01952" y="15087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D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29968" y="1005840"/>
            <a:ext cx="1627632" cy="1554480"/>
          </a:xfrm>
          <a:prstGeom prst="rect">
            <a:avLst/>
          </a:prstGeom>
          <a:solidFill>
            <a:srgbClr val="141D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9968" y="105156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传感器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21408" y="141732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高速TDI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时延积分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TB/s数据流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0" y="15087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D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85616" y="1005840"/>
            <a:ext cx="1627632" cy="1554480"/>
          </a:xfrm>
          <a:prstGeom prst="rect">
            <a:avLst/>
          </a:prstGeom>
          <a:solidFill>
            <a:srgbClr val="141D2E"/>
          </a:solidFill>
          <a:ln w="12700">
            <a:solidFill>
              <a:srgbClr val="4D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85616" y="105156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定制GPU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图像计算机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77056" y="141732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定制GPU架构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实时并行分析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异常像素提取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13248" y="15087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D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41264" y="1005840"/>
            <a:ext cx="1627632" cy="1554480"/>
          </a:xfrm>
          <a:prstGeom prst="rect">
            <a:avLst/>
          </a:prstGeom>
          <a:solidFill>
            <a:srgbClr val="141D2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41264" y="105156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AI引擎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32704" y="141732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深度学习分类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噪声抑制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缺陷分箱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68896" y="15087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D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96912" y="1005840"/>
            <a:ext cx="1627632" cy="1554480"/>
          </a:xfrm>
          <a:prstGeom prst="rect">
            <a:avLst/>
          </a:prstGeom>
          <a:solidFill>
            <a:srgbClr val="141D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6912" y="105156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输出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88352" y="1417320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缺陷群体分析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晶圆级签名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工艺反馈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三代计算架构演进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246120"/>
            <a:ext cx="2697480" cy="1371600"/>
          </a:xfrm>
          <a:prstGeom prst="rect">
            <a:avLst/>
          </a:prstGeom>
          <a:solidFill>
            <a:srgbClr val="141D2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246120"/>
            <a:ext cx="26974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第一代: FPGA/ASIC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" y="3703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固定管线, 低延迟, 灵活性有限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3246120"/>
            <a:ext cx="2697480" cy="1371600"/>
          </a:xfrm>
          <a:prstGeom prst="rect">
            <a:avLst/>
          </a:prstGeom>
          <a:solidFill>
            <a:srgbClr val="141D2E"/>
          </a:solidFill>
          <a:ln w="12700">
            <a:solidFill>
              <a:srgbClr val="4D8E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3246120"/>
            <a:ext cx="2697480" cy="36576"/>
          </a:xfrm>
          <a:prstGeom prst="rect">
            <a:avLst/>
          </a:prstGeom>
          <a:solidFill>
            <a:srgbClr val="4D8EF7"/>
          </a:solidFill>
          <a:ln/>
        </p:spPr>
      </p:sp>
      <p:sp>
        <p:nvSpPr>
          <p:cNvPr id="30" name="Text 28"/>
          <p:cNvSpPr/>
          <p:nvPr/>
        </p:nvSpPr>
        <p:spPr>
          <a:xfrm>
            <a:off x="3310128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第二代: 定制GPU (当前)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10128" y="3703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KLA自研GPU架构, 实时并行, 检测优化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3246120"/>
            <a:ext cx="2697480" cy="1371600"/>
          </a:xfrm>
          <a:prstGeom prst="rect">
            <a:avLst/>
          </a:prstGeom>
          <a:solidFill>
            <a:srgbClr val="141D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3246120"/>
            <a:ext cx="269748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4" name="Text 32"/>
          <p:cNvSpPr/>
          <p:nvPr/>
        </p:nvSpPr>
        <p:spPr>
          <a:xfrm>
            <a:off x="6144768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第三代: 异构AI推理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44768" y="3703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定制前端 + NVIDIA GPU推理, CUDA-X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HPC在检测设备中的核心价值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645920" cy="0"/>
          </a:xfrm>
          <a:prstGeom prst="line">
            <a:avLst/>
          </a:prstGeom>
          <a:noFill/>
          <a:ln w="25400">
            <a:solidFill>
              <a:srgbClr val="4D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半导体检测的核心挑战不仅是光学 — 更是计算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80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TB/s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单次扫描数据流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BBP检测300mm晶圆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每秒产生TB级图像数据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280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1ms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46120" y="17830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实时判别延迟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像素流过传感器的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同时完成缺陷识别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697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280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-30%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26480" y="17830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AI减少检测时间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深度学习分类替代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人工复查消除误差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17520"/>
            <a:ext cx="320040" cy="320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14400" y="3017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实时性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2920" y="34747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定制GPU架构确保确定性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延迟, 满足产线节拍要求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514600" y="2880360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3017520"/>
            <a:ext cx="320040" cy="32004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063240" y="3017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AI精度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2651760" y="34747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AI融合光学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物理原理与深度学习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663440" y="2880360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017520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212080" y="3017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数据规模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4800600" y="34747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高带宽传感器接口 + 高效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压缩应对指数增长数据量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812280" y="2880360"/>
            <a:ext cx="20116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017520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360920" y="3017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可编程性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6949440" y="34747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GPU可编程性支持算法快速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迭代, 软件定义检测模式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KLA × NVIDIA — 17年HPC合作深度解读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645920" cy="0"/>
          </a:xfrm>
          <a:prstGeom prst="line">
            <a:avLst/>
          </a:prstGeom>
          <a:noFill/>
          <a:ln w="25400">
            <a:solidFill>
              <a:srgbClr val="4D8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115568"/>
            <a:ext cx="128016" cy="128016"/>
          </a:xfrm>
          <a:prstGeom prst="ellipse">
            <a:avLst/>
          </a:prstGeom>
          <a:solidFill>
            <a:srgbClr val="4D8EF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243584"/>
            <a:ext cx="0" cy="475488"/>
          </a:xfrm>
          <a:prstGeom prst="line">
            <a:avLst/>
          </a:prstGeom>
          <a:noFill/>
          <a:ln w="12700">
            <a:solidFill>
              <a:srgbClr val="1A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005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合作启动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物理基AI + GPU加速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709928"/>
            <a:ext cx="128016" cy="128016"/>
          </a:xfrm>
          <a:prstGeom prst="ellipse">
            <a:avLst/>
          </a:prstGeom>
          <a:solidFill>
            <a:srgbClr val="4D8EF7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1837944"/>
            <a:ext cx="0" cy="475488"/>
          </a:xfrm>
          <a:prstGeom prst="line">
            <a:avLst/>
          </a:prstGeom>
          <a:noFill/>
          <a:ln w="12700">
            <a:solidFill>
              <a:srgbClr val="1A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600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2008-2020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CUDA深度整合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图像处理工作负载迁移至GPU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2304288"/>
            <a:ext cx="128016" cy="128016"/>
          </a:xfrm>
          <a:prstGeom prst="ellipse">
            <a:avLst/>
          </a:prstGeom>
          <a:solidFill>
            <a:srgbClr val="4D8E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2432304"/>
            <a:ext cx="0" cy="475488"/>
          </a:xfrm>
          <a:prstGeom prst="line">
            <a:avLst/>
          </a:prstGeom>
          <a:noFill/>
          <a:ln w="12700">
            <a:solidFill>
              <a:srgbClr val="1A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2194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AI全面GPU化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图像处理与数据提取迁移到GPU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2898648"/>
            <a:ext cx="128016" cy="128016"/>
          </a:xfrm>
          <a:prstGeom prst="ellipse">
            <a:avLst/>
          </a:prstGeom>
          <a:solidFill>
            <a:srgbClr val="4D8E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3026664"/>
            <a:ext cx="0" cy="475488"/>
          </a:xfrm>
          <a:prstGeom prst="line">
            <a:avLst/>
          </a:prstGeom>
          <a:noFill/>
          <a:ln w="12700">
            <a:solidFill>
              <a:srgbClr val="1A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2788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 GTC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9456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Blackwell评估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PRO 6000 + CUDA-X推理加速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3493008"/>
            <a:ext cx="128016" cy="128016"/>
          </a:xfrm>
          <a:prstGeom prst="ellipse">
            <a:avLst/>
          </a:prstGeom>
          <a:solidFill>
            <a:srgbClr val="4D8EF7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383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2025.12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9456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全面采纳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与TSMC等共同采纳Blackwell平台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8229600" cy="1051560"/>
          </a:xfrm>
          <a:prstGeom prst="rect">
            <a:avLst/>
          </a:prstGeom>
          <a:solidFill>
            <a:srgbClr val="141D2E"/>
          </a:solidFill>
          <a:ln w="6350">
            <a:solidFill>
              <a:srgbClr val="4D8E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913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核心洞察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4160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KLA将其AI定位为"Physics-based AI" — 深度融合光学物理原理（衍射、散射、材料常数），GPU加速的核心价值不仅在通用深度学习推理，更在于加速包含物理约束的复杂计算。这种"物理约束+数据驱动"的混合方法论是最深层的技术护城河。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HPC如何塑造检测设备的竞争力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645920" cy="0"/>
          </a:xfrm>
          <a:prstGeom prst="line">
            <a:avLst/>
          </a:prstGeom>
          <a:noFill/>
          <a:ln w="25400">
            <a:solidFill>
              <a:srgbClr val="4D8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没有HPC的检测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灵敏度-速度矛盾不可调和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全晶圆检测耗时数小时而非1小时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缺陷分类依赖人工, 慢且不一致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规则驱动算法无法适应新缺陷类型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无法实时反馈, 工艺偏差发现延迟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固定管线升级需硬件重新设计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393192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HPC赋能的检测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Super·Pixel等模式平衡灵敏度与速度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约1小时完成全300mm晶圆检测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AI自动分类, 减少30%时间+消除误差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深度学习自适应新缺陷模式和噪声源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实时工艺反馈, 即时纠正过程偏差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</a:rPr>
              <a:t>GPU可编程, 算法OTA更新无需换硬件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4805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结论: HPC不是检测设备的附加组件, 而是决定灵敏度极限、吞吐量上限和AI能力边界的核心基础设施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HPC计算的六大演进方向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645920" cy="0"/>
          </a:xfrm>
          <a:prstGeom prst="line">
            <a:avLst/>
          </a:prstGeom>
          <a:noFill/>
          <a:ln w="25400">
            <a:solidFill>
              <a:srgbClr val="4D8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697480" cy="1645920"/>
          </a:xfrm>
          <a:prstGeom prst="rect">
            <a:avLst/>
          </a:prstGeom>
          <a:solidFill>
            <a:srgbClr val="141D2E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54864" cy="1645920"/>
          </a:xfrm>
          <a:prstGeom prst="rect">
            <a:avLst/>
          </a:prstGeom>
          <a:solidFill>
            <a:srgbClr val="4D8E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097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异构计算深化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508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CPU+FPGA+GPU+NPU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多级异构架构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960120"/>
            <a:ext cx="2697480" cy="1645920"/>
          </a:xfrm>
          <a:prstGeom prst="rect">
            <a:avLst/>
          </a:prstGeom>
          <a:solidFill>
            <a:srgbClr val="141D2E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46120" y="960120"/>
            <a:ext cx="54864" cy="164592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0972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1097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AI推理走向实时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29000" y="1508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从后处理到实时管线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亚毫秒延迟推理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960120"/>
            <a:ext cx="2697480" cy="1645920"/>
          </a:xfrm>
          <a:prstGeom prst="rect">
            <a:avLst/>
          </a:prstGeom>
          <a:solidFill>
            <a:srgbClr val="141D2E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26480" y="960120"/>
            <a:ext cx="54864" cy="1645920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75120" y="1097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数据量指数增长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09360" y="15087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更高带宽传感器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智能压缩/降维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65760" y="2834640"/>
            <a:ext cx="2697480" cy="1645920"/>
          </a:xfrm>
          <a:prstGeom prst="rect">
            <a:avLst/>
          </a:prstGeom>
          <a:solidFill>
            <a:srgbClr val="141D2E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65760" y="2834640"/>
            <a:ext cx="54864" cy="164592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718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边缘-云端混合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48640" y="3383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实时边缘处理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+云端深度分析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46120" y="2834640"/>
            <a:ext cx="2697480" cy="1645920"/>
          </a:xfrm>
          <a:prstGeom prst="rect">
            <a:avLst/>
          </a:prstGeom>
          <a:solidFill>
            <a:srgbClr val="141D2E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246120" y="2834640"/>
            <a:ext cx="54864" cy="1645920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97180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9476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软件定义检测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29000" y="3383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硬件标准化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算法即竞争力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26480" y="2834640"/>
            <a:ext cx="2697480" cy="1645920"/>
          </a:xfrm>
          <a:prstGeom prst="rect">
            <a:avLst/>
          </a:prstGeom>
          <a:solidFill>
            <a:srgbClr val="141D2E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126480" y="2834640"/>
            <a:ext cx="54864" cy="1645920"/>
          </a:xfrm>
          <a:prstGeom prst="rect">
            <a:avLst/>
          </a:prstGeom>
          <a:solidFill>
            <a:srgbClr val="FB923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297180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75120" y="2971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专用AI加速器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309360" y="3383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长期可能: 定制推理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ASIC极致性能功耗比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AI算法与软件创新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645920" cy="0"/>
          </a:xfrm>
          <a:prstGeom prst="line">
            <a:avLst/>
          </a:prstGeom>
          <a:noFill/>
          <a:ln w="25400">
            <a:solidFill>
              <a:srgbClr val="4D8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97480" cy="36576"/>
          </a:xfrm>
          <a:prstGeom prst="rect">
            <a:avLst/>
          </a:prstGeom>
          <a:solidFill>
            <a:srgbClr val="4D8EF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iDO 3.0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ML缺陷分箱/噪声抑制平台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集成于BBP检测系统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69748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097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DefectWise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4630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系统级AI, 减少30%检测时间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深度学习灵敏度+分类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697480" cy="365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097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DesignWise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4630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设计布局注入检测流程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FlexPoint精确聚焦关注区域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43200"/>
            <a:ext cx="2697480" cy="36576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880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X30 DL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246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第二代深度学习算法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2nm客户产线已验证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74320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743200"/>
            <a:ext cx="269748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2880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DualSENS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3246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光学-电子束实时联动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低对比度层增强灵敏度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74320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743200"/>
            <a:ext cx="26974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2880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Super·Pixel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324612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吞吐量×灵敏度平衡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智能像素聚合+算法优化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检测设备市场格局与竞争分析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645920" cy="0"/>
          </a:xfrm>
          <a:prstGeom prst="line">
            <a:avLst/>
          </a:prstGeom>
          <a:noFill/>
          <a:ln w="25400">
            <a:solidFill>
              <a:srgbClr val="4D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光掩模检测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606040" y="1097280"/>
            <a:ext cx="5029200" cy="274320"/>
          </a:xfrm>
          <a:prstGeom prst="rect">
            <a:avLst/>
          </a:prstGeom>
          <a:solidFill>
            <a:srgbClr val="141D2E"/>
          </a:solidFill>
          <a:ln/>
        </p:spPr>
      </p:sp>
      <p:sp>
        <p:nvSpPr>
          <p:cNvPr id="6" name="Shape 4"/>
          <p:cNvSpPr/>
          <p:nvPr/>
        </p:nvSpPr>
        <p:spPr>
          <a:xfrm>
            <a:off x="2606040" y="1097280"/>
            <a:ext cx="4123944" cy="27432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1051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82%+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图案化晶圆检测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645920"/>
            <a:ext cx="5029200" cy="274320"/>
          </a:xfrm>
          <a:prstGeom prst="rect">
            <a:avLst/>
          </a:prstGeom>
          <a:solidFill>
            <a:srgbClr val="141D2E"/>
          </a:solidFill>
          <a:ln/>
        </p:spPr>
      </p:sp>
      <p:sp>
        <p:nvSpPr>
          <p:cNvPr id="10" name="Shape 8"/>
          <p:cNvSpPr/>
          <p:nvPr/>
        </p:nvSpPr>
        <p:spPr>
          <a:xfrm>
            <a:off x="2606040" y="1645920"/>
            <a:ext cx="3872484" cy="2743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600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77%+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明场晶圆检测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2194560"/>
            <a:ext cx="5029200" cy="274320"/>
          </a:xfrm>
          <a:prstGeom prst="rect">
            <a:avLst/>
          </a:prstGeom>
          <a:solidFill>
            <a:srgbClr val="141D2E"/>
          </a:solidFill>
          <a:ln/>
        </p:spPr>
      </p:sp>
      <p:sp>
        <p:nvSpPr>
          <p:cNvPr id="14" name="Shape 12"/>
          <p:cNvSpPr/>
          <p:nvPr/>
        </p:nvSpPr>
        <p:spPr>
          <a:xfrm>
            <a:off x="2606040" y="2194560"/>
            <a:ext cx="3017520" cy="274320"/>
          </a:xfrm>
          <a:prstGeom prst="rect">
            <a:avLst/>
          </a:prstGeom>
          <a:solidFill>
            <a:srgbClr val="4D8EF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2148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60%+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暗场晶圆检测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06040" y="2743200"/>
            <a:ext cx="5029200" cy="274320"/>
          </a:xfrm>
          <a:prstGeom prst="rect">
            <a:avLst/>
          </a:prstGeom>
          <a:solidFill>
            <a:srgbClr val="141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2606040" y="2743200"/>
            <a:ext cx="2615184" cy="2743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2697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52%+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103120"/>
                <a:gridCol w="18288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竞争者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检测强项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计算/AI能力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差距评估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DF5"/>
                          </a:solidFill>
                        </a:rPr>
                        <a:t>Applied Materials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5A8"/>
                          </a:solidFill>
                        </a:rPr>
                        <a:t>电子束 (SEMVision)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5A8"/>
                          </a:solidFill>
                        </a:rPr>
                        <a:t>ExtractAI, AERA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B7185"/>
                          </a:solidFill>
                        </a:rPr>
                        <a:t>份额被持续蚕食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DF5"/>
                          </a:solidFill>
                        </a:rPr>
                        <a:t>ASML (HMI)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5A8"/>
                          </a:solidFill>
                        </a:rPr>
                        <a:t>多束电子束, CD-SEM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5A8"/>
                          </a:solidFill>
                        </a:rPr>
                        <a:t>YieldStar计算量测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</a:rPr>
                        <a:t>EUV生态差异化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DF5"/>
                          </a:solidFill>
                        </a:rPr>
                        <a:t>Hitachi High-Tech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5A8"/>
                          </a:solidFill>
                        </a:rPr>
                        <a:t>CD-SEM (市场领先)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5A8"/>
                          </a:solidFill>
                        </a:rPr>
                        <a:t>传统图像处理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D8EF7"/>
                          </a:solidFill>
                        </a:rPr>
                        <a:t>CD-SEM利基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EDF5"/>
                          </a:solidFill>
                        </a:rPr>
                        <a:t>Lasertec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5A8"/>
                          </a:solidFill>
                        </a:rPr>
                        <a:t>EUV光敏掩膜(唯一)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B95A8"/>
                          </a:solidFill>
                        </a:rPr>
                        <a:t>专用光学信号处理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78BFA"/>
                          </a:solidFill>
                        </a:rPr>
                        <a:t>极窄利基垄断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技术路线图与前瞻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749808"/>
            <a:ext cx="1645920" cy="0"/>
          </a:xfrm>
          <a:prstGeom prst="line">
            <a:avLst/>
          </a:prstGeom>
          <a:noFill/>
          <a:ln w="25400">
            <a:solidFill>
              <a:srgbClr val="4D8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15568"/>
            <a:ext cx="128016" cy="128016"/>
          </a:xfrm>
          <a:prstGeom prst="ellipse">
            <a:avLst/>
          </a:prstGeom>
          <a:solidFill>
            <a:srgbClr val="4D8EF7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243584"/>
            <a:ext cx="0" cy="722376"/>
          </a:xfrm>
          <a:prstGeom prst="line">
            <a:avLst/>
          </a:prstGeom>
          <a:noFill/>
          <a:ln w="12700">
            <a:solidFill>
              <a:srgbClr val="5A64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058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005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2nm / GAA检测攻坚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005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2965 GAA专用波长; X30 AI 2nm验证; BBP曲线型OPC支持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075688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2203704"/>
            <a:ext cx="0" cy="722376"/>
          </a:xfrm>
          <a:prstGeom prst="line">
            <a:avLst/>
          </a:prstGeom>
          <a:noFill/>
          <a:ln w="12700">
            <a:solidFill>
              <a:srgbClr val="5A64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965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1965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HPC硬件升级 + 封装规模化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部署Blackwell GPU推理加速; Kronos/ICOS覆盖混合键合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035808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3163824"/>
            <a:ext cx="0" cy="722376"/>
          </a:xfrm>
          <a:prstGeom prst="line">
            <a:avLst/>
          </a:prstGeom>
          <a:noFill/>
          <a:ln w="12700">
            <a:solidFill>
              <a:srgbClr val="5A6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926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2026-27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29260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High-NA EUV + BSPDN配套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926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适配ASML High-NA的检测方案; 背面供电新缺陷类型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995928"/>
            <a:ext cx="128016" cy="12801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886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2027+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03120" y="3886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CFET + 量子计算芯片检测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886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三维堆叠CFET复杂度跃升; 量子芯片超低温新材料体系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3708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持续趋势: "过程控制强度"结构性上升 — 每代新节点要求Fab将更高比例CapEx分配给检测设备 (当前15-20%)，KLA的TAM增速将持续快于整体WFE市场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1A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0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核心结论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48640" y="841248"/>
            <a:ext cx="1371600" cy="0"/>
          </a:xfrm>
          <a:prstGeom prst="line">
            <a:avLst/>
          </a:prstGeom>
          <a:noFill/>
          <a:ln w="25400">
            <a:solidFill>
              <a:srgbClr val="4D8E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141D2E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097280"/>
            <a:ext cx="54864" cy="777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检测产品矩阵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1463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BBP+eDR+Teron+封装构成最完整光谱覆盖，DualSENS联动形成系统级壁垒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141D2E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011680"/>
            <a:ext cx="54864" cy="777240"/>
          </a:xfrm>
          <a:prstGeom prst="rect">
            <a:avLst/>
          </a:prstGeom>
          <a:solidFill>
            <a:srgbClr val="4D8EF7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HPC计算架构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2377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定制GPU+NVIDIA推理的异构模式，17年CUDA生态整合领先竞争对手一代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141D2E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926080"/>
            <a:ext cx="54864" cy="7772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核心护城河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3291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AI — 物理光学原理与深度学习深度融合，非纯数据驱动可替代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141D2E"/>
          </a:solidFill>
          <a:ln w="6350">
            <a:solidFill>
              <a:srgbClr val="1A2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840480"/>
            <a:ext cx="54864" cy="7772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增长引擎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先进封装$925M+（+85% YoY），过程控制强度结构性上升驱动TAM扩张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数据来源: KLA FY2025 10-K · NVIDIA GTC 2025 · KLA产品技术白皮书 · 行业分析报告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 检测设备深度洞察</dc:title>
  <dc:subject>PptxGenJS Presentation</dc:subject>
  <dc:creator>KLA Insight Report</dc:creator>
  <cp:lastModifiedBy>KLA Insight Report</cp:lastModifiedBy>
  <cp:revision>1</cp:revision>
  <dcterms:created xsi:type="dcterms:W3CDTF">2026-04-23T16:03:57Z</dcterms:created>
  <dcterms:modified xsi:type="dcterms:W3CDTF">2026-04-23T16:03:57Z</dcterms:modified>
</cp:coreProperties>
</file>